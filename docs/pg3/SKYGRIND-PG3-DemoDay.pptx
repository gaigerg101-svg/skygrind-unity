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KYGRIND" id="{10cd3080-365b-9f91-f426-5f81a64feab9}">
          <p14:sldIdLst>
            <p14:sldId id="256"/>
          </p14:sldIdLst>
        </p14:section>
        <p14:section name="Inspiration" id="{d5b6cf5a-9d19-755e-fd32-ef05ef98340d}">
          <p14:sldIdLst>
            <p14:sldId id="257"/>
          </p14:sldIdLst>
        </p14:section>
        <p14:section name="Process" id="{450f0ce4-94d1-3793-541e-0ead1ad21a2e}">
          <p14:sldIdLst>
            <p14:sldId id="258"/>
          </p14:sldIdLst>
        </p14:section>
        <p14:section name="Tools" id="{f9ff375f-d66d-5db5-4889-ea0cd09ec467}">
          <p14:sldIdLst>
            <p14:sldId id="259"/>
          </p14:sldIdLst>
        </p14:section>
        <p14:section name="Numbers" id="{39de3309-1f6b-acac-6734-0cd7046a557a}">
          <p14:sldIdLst>
            <p14:sldId id="260"/>
          </p14:sldIdLst>
        </p14:section>
        <p14:section name="Assets" id="{0a9db6fb-df91-a531-9eb8-d16e6c0cc533}">
          <p14:sldIdLst>
            <p14:sldId id="261"/>
          </p14:sldIdLst>
        </p14:section>
        <p14:section name="The game" id="{48bf477f-7d7c-5c3f-8cec-f0f57bdcc406}">
          <p14:sldIdLst>
            <p14:sldId id="262"/>
          </p14:sldIdLst>
        </p14:section>
        <p14:section name="Showing up" id="{1ea80009-1638-42ab-d924-b37d854e94c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SKYGRIND is a first-person movement shooter at dusk: Call of Duty Zombies rounds with ULTRAKILL movement. This talk is about the game and about how it was made: I lead (human first), AI tools do most of the building and generating in the middle, and I come back at the end to play, judge and decide (human last). The screenshot is a real frame from the game: a husk enemy model and the KESTREL revolver.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was one line: Zombies meets ULTRAKILL. That gave three pillars. Movement: a fast ULTRAKILL-style kit (slide, dash, double jump, wall-ride, grapple), first built as a web prototype and then ported to Unity line for line so it plays exactly the same. Rounds: a Zombies-style loop of waves, points and buys, with a boss closing each level. Dusk: one strict colour language so the player can read a fight at a glance: cyan is anything you can use, red-orange is danger, magenta is the rival, violet-white is the boundary. The screenshot shows the husk models in the kiln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method. Human first: I decide what the game is, write the prompt for each build, and say what feels wrong in plain words (two real examples are on the slide). I also set rules the AI may not break, like keeping the movement exact. AI in the middle: Claude Code does most of the engineering, and every change is checked by automated tests, play bots and blind A/B comparisons of frames before it ships. ElevenLabs makes the sound and music; ChatGPT makes reference images that Tripo turns into 3D models. Human last: I play every build and decide what stays, and nothing goes public without my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tools carry the method. Claude Code is the engineer in the middle: it reads and edits the whole project from the terminal, builds and tests the game itself, and follows a rules file I wrote, so I can hand it a long build night and trust the guard rails. Unity is the engine because the target is Steam and hopefully Switch, and the Unity CLI is what made the loop fast: Claude drives my open Unity Editor directly, compiling, running tests, building the game and running checks, without me clicking through menus. Around them: ElevenLabs for all the audio, ChatGPT for reference images, Tripo for 3D models, and GitHub plus itch.io to publish; Claude in Chrome and the butler tool did the uploads.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numbers, counted from the repository today. 4,298 commits in about four weeks; 2,551 automated tests that guard the movement and the rules; about 317 thousand lines of C#. On the asset side: 138 sound effects and 41 music tracks from ElevenLabs, and 19 3D models from Tripo. The point is not the size: it is that a human-led loop can steer this much AI output and still keep the game feeling like one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method on a single asset, the husk enemy. I wrote a prompt and picked the ChatGPT reference image. Tripo turned the image into a textured 3D model. Then Claude cut the static model into body, legs and arms and wrote procedural animation, so it walks, rears back in a wind-up and lunges on the strike. The human part matters at both ends: the first exports had a gun pointing backwards and grey, desaturated textures, and I called both out before they were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image here is a frame from the real game, captured by the automated check runs (sound muted). Top row: THE ICEBREAKER boss, whose 3D model is attached to its own animation bones so its punches still read; THE CROWN, a spinning boss whose gems are the weak points; and the KESTREL charge, which now fills the cyan glow on the gun itself. Bottom row: the LONGWAVE, made in Tripo from a text prompt; the gauntlet punch; and the THUNDERCLAP shotgun during the KILN WYRM fight.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habit that made this work was simply showing up: every day I wrote what I wanted, played what came back, and said what was wrong. This presentation follows the same pattern: I asked for the story and the structure, Claude gathered the real numbers and screenshots and built the PowerPoint, and I am the last step: checking it and presenting it. You can play the game on itch.io, and the code and builds are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KY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KY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SKYGRIND  ·  ASU AME 294  ·  Portfolio Game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F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F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screenshot" descr="C:\Users\gaige\dev\SKYGRIND-unity\docs\pg3\deck\img\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scrim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4173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b="1" dirty="0">
                <a:solidFill>
                  <a:schemeClr val="tx1"/>
                </a:solidFill>
              </a:rPr>
              <a:t>SKYGRIND</a:t>
            </a:r>
            <a:endParaRPr lang="en-US" sz="6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7889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A first-person movement shooter at dusk, built Human First, AI in the Middle, Human Last</a:t>
            </a:r>
            <a:endParaRPr lang="en-US" sz="2200" dirty="0"/>
          </a:p>
        </p:txBody>
      </p:sp>
      <p:sp>
        <p:nvSpPr>
          <p:cNvPr id="6" name="chip human first"/>
          <p:cNvSpPr txBox="1"/>
          <p:nvPr/>
        </p:nvSpPr>
        <p:spPr>
          <a:xfrm>
            <a:off x="640080" y="4343400"/>
            <a:ext cx="18745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HUMAN FIRST</a:t>
            </a:r>
            <a:endParaRPr lang="en-US" sz="1400" dirty="0"/>
          </a:p>
        </p:txBody>
      </p:sp>
      <p:pic>
        <p:nvPicPr>
          <p:cNvPr id="7" name="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4453128"/>
            <a:ext cx="237744" cy="237744"/>
          </a:xfrm>
          <a:prstGeom prst="rect">
            <a:avLst/>
          </a:prstGeom>
        </p:spPr>
      </p:pic>
      <p:sp>
        <p:nvSpPr>
          <p:cNvPr id="8" name="chip ai"/>
          <p:cNvSpPr txBox="1"/>
          <p:nvPr/>
        </p:nvSpPr>
        <p:spPr>
          <a:xfrm>
            <a:off x="2990088" y="4343400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IN THE MIDDLE</a:t>
            </a:r>
            <a:endParaRPr lang="en-US" sz="1400" dirty="0"/>
          </a:p>
        </p:txBody>
      </p:sp>
      <p:pic>
        <p:nvPicPr>
          <p:cNvPr id="9" name="arrow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4453128"/>
            <a:ext cx="237744" cy="237744"/>
          </a:xfrm>
          <a:prstGeom prst="rect">
            <a:avLst/>
          </a:prstGeom>
        </p:spPr>
      </p:pic>
      <p:sp>
        <p:nvSpPr>
          <p:cNvPr id="10" name="chip human last"/>
          <p:cNvSpPr txBox="1"/>
          <p:nvPr/>
        </p:nvSpPr>
        <p:spPr>
          <a:xfrm>
            <a:off x="5705856" y="4343400"/>
            <a:ext cx="16916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HUMAN LAST</a:t>
            </a:r>
            <a:endParaRPr lang="en-US" sz="1400" dirty="0"/>
          </a:p>
        </p:txBody>
      </p:sp>
      <p:sp>
        <p:nvSpPr>
          <p:cNvPr id="11" name="byline"/>
          <p:cNvSpPr txBox="1"/>
          <p:nvPr/>
        </p:nvSpPr>
        <p:spPr>
          <a:xfrm>
            <a:off x="64008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Gaige Geraci  ·  ASU AME 294, Portfolio Game 3  ·  Demo Day, 28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Inspiration: Zombies rounds × ULTRAKILL movement</a:t>
            </a:r>
            <a:endParaRPr lang="en-US" sz="3200" dirty="0"/>
          </a:p>
        </p:txBody>
      </p:sp>
      <p:sp>
        <p:nvSpPr>
          <p:cNvPr id="3" name="quote card"/>
          <p:cNvSpPr/>
          <p:nvPr/>
        </p:nvSpPr>
        <p:spPr>
          <a:xfrm>
            <a:off x="548640" y="1325880"/>
            <a:ext cx="5760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quote 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365760" cy="365760"/>
          </a:xfrm>
          <a:prstGeom prst="rect">
            <a:avLst/>
          </a:prstGeom>
        </p:spPr>
      </p:pic>
      <p:sp>
        <p:nvSpPr>
          <p:cNvPr id="5" name="quote text"/>
          <p:cNvSpPr txBox="1"/>
          <p:nvPr/>
        </p:nvSpPr>
        <p:spPr>
          <a:xfrm>
            <a:off x="1325880" y="14630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"cod zombies meets ultrakill as the main, but other games should be inspired"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My one-line brief, 3 October 2026</a:t>
            </a:r>
            <a:endParaRPr lang="en-US" sz="1800" dirty="0"/>
          </a:p>
        </p:txBody>
      </p:sp>
      <p:sp>
        <p:nvSpPr>
          <p:cNvPr id="6" name="Movement circle"/>
          <p:cNvSpPr/>
          <p:nvPr/>
        </p:nvSpPr>
        <p:spPr>
          <a:xfrm>
            <a:off x="548640" y="30175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Movemen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3175528"/>
            <a:ext cx="342351" cy="342351"/>
          </a:xfrm>
          <a:prstGeom prst="rect">
            <a:avLst/>
          </a:prstGeom>
        </p:spPr>
      </p:pic>
      <p:sp>
        <p:nvSpPr>
          <p:cNvPr id="8" name="Movement text"/>
          <p:cNvSpPr txBox="1"/>
          <p:nvPr/>
        </p:nvSpPr>
        <p:spPr>
          <a:xfrm>
            <a:off x="1417320" y="2944368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Movement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Slide, dash, double jump, wall-ride and grapple, on a 120 Hz sim ported line for line from my web prototype</a:t>
            </a:r>
            <a:endParaRPr lang="en-US" sz="1800" dirty="0"/>
          </a:p>
        </p:txBody>
      </p:sp>
      <p:sp>
        <p:nvSpPr>
          <p:cNvPr id="9" name="Rounds circle"/>
          <p:cNvSpPr/>
          <p:nvPr/>
        </p:nvSpPr>
        <p:spPr>
          <a:xfrm>
            <a:off x="548640" y="4096512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Round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4254520"/>
            <a:ext cx="342351" cy="342351"/>
          </a:xfrm>
          <a:prstGeom prst="rect">
            <a:avLst/>
          </a:prstGeom>
        </p:spPr>
      </p:pic>
      <p:sp>
        <p:nvSpPr>
          <p:cNvPr id="11" name="Rounds text"/>
          <p:cNvSpPr txBox="1"/>
          <p:nvPr/>
        </p:nvSpPr>
        <p:spPr>
          <a:xfrm>
            <a:off x="1417320" y="40233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Rounds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Waves of husks, swarmers, spitters, chargers, wardens and drones; points, buys, and a boss at the end of every level</a:t>
            </a:r>
            <a:endParaRPr lang="en-US" sz="1800" dirty="0"/>
          </a:p>
        </p:txBody>
      </p:sp>
      <p:sp>
        <p:nvSpPr>
          <p:cNvPr id="12" name="Dusk circle"/>
          <p:cNvSpPr/>
          <p:nvPr/>
        </p:nvSpPr>
        <p:spPr>
          <a:xfrm>
            <a:off x="548640" y="5175504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Dus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5333512"/>
            <a:ext cx="342351" cy="342351"/>
          </a:xfrm>
          <a:prstGeom prst="rect">
            <a:avLst/>
          </a:prstGeom>
        </p:spPr>
      </p:pic>
      <p:sp>
        <p:nvSpPr>
          <p:cNvPr id="14" name="Dusk text"/>
          <p:cNvSpPr txBox="1"/>
          <p:nvPr/>
        </p:nvSpPr>
        <p:spPr>
          <a:xfrm>
            <a:off x="1417320" y="51023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Dusk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colour language: cyan is yours, red-orange is danger, magenta is the rival, violet-white is the edge of the world</a:t>
            </a:r>
            <a:endParaRPr lang="en-US" sz="1800" dirty="0"/>
          </a:p>
        </p:txBody>
      </p:sp>
      <p:pic>
        <p:nvPicPr>
          <p:cNvPr id="15" name="horde screenshot" descr="C:\Users\gaige\dev\SKYGRIND-unity\docs\pg3\deck\img\hord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325880"/>
            <a:ext cx="4937760" cy="2779776"/>
          </a:xfrm>
          <a:prstGeom prst="rect">
            <a:avLst/>
          </a:prstGeom>
        </p:spPr>
      </p:pic>
      <p:sp>
        <p:nvSpPr>
          <p:cNvPr id="16" name="swatch Cyan: yours"/>
          <p:cNvSpPr/>
          <p:nvPr/>
        </p:nvSpPr>
        <p:spPr>
          <a:xfrm>
            <a:off x="6675120" y="438912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19D3E6"/>
          </a:solidFill>
          <a:ln w="12700">
            <a:solidFill>
              <a:srgbClr val="19D3E6"/>
            </a:solidFill>
            <a:prstDash val="solid"/>
          </a:ln>
        </p:spPr>
      </p:sp>
      <p:sp>
        <p:nvSpPr>
          <p:cNvPr id="17" name="swatch label 0"/>
          <p:cNvSpPr txBox="1"/>
          <p:nvPr/>
        </p:nvSpPr>
        <p:spPr>
          <a:xfrm>
            <a:off x="6675120" y="51389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Cyan: yours</a:t>
            </a:r>
            <a:endParaRPr lang="en-US" sz="1200" dirty="0"/>
          </a:p>
        </p:txBody>
      </p:sp>
      <p:sp>
        <p:nvSpPr>
          <p:cNvPr id="18" name="swatch Red-orange: danger"/>
          <p:cNvSpPr/>
          <p:nvPr/>
        </p:nvSpPr>
        <p:spPr>
          <a:xfrm>
            <a:off x="7939735" y="438912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F4A1C"/>
          </a:solidFill>
          <a:ln w="12700">
            <a:solidFill>
              <a:srgbClr val="FF4A1C"/>
            </a:solidFill>
            <a:prstDash val="solid"/>
          </a:ln>
        </p:spPr>
      </p:sp>
      <p:sp>
        <p:nvSpPr>
          <p:cNvPr id="19" name="swatch label 1"/>
          <p:cNvSpPr txBox="1"/>
          <p:nvPr/>
        </p:nvSpPr>
        <p:spPr>
          <a:xfrm>
            <a:off x="7939735" y="51389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Red-orange: danger</a:t>
            </a:r>
            <a:endParaRPr lang="en-US" sz="1200" dirty="0"/>
          </a:p>
        </p:txBody>
      </p:sp>
      <p:sp>
        <p:nvSpPr>
          <p:cNvPr id="20" name="swatch Magenta: rival"/>
          <p:cNvSpPr/>
          <p:nvPr/>
        </p:nvSpPr>
        <p:spPr>
          <a:xfrm>
            <a:off x="9204350" y="438912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21" name="swatch label 2"/>
          <p:cNvSpPr txBox="1"/>
          <p:nvPr/>
        </p:nvSpPr>
        <p:spPr>
          <a:xfrm>
            <a:off x="9204350" y="51389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Magenta: rival</a:t>
            </a:r>
            <a:endParaRPr lang="en-US" sz="1200" dirty="0"/>
          </a:p>
        </p:txBody>
      </p:sp>
      <p:sp>
        <p:nvSpPr>
          <p:cNvPr id="22" name="swatch Violet-white: edge"/>
          <p:cNvSpPr/>
          <p:nvPr/>
        </p:nvSpPr>
        <p:spPr>
          <a:xfrm>
            <a:off x="10468966" y="438912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C9BCFF"/>
          </a:solidFill>
          <a:ln w="12700">
            <a:solidFill>
              <a:srgbClr val="C9BCFF"/>
            </a:solidFill>
            <a:prstDash val="solid"/>
          </a:ln>
        </p:spPr>
      </p:sp>
      <p:sp>
        <p:nvSpPr>
          <p:cNvPr id="23" name="swatch label 3"/>
          <p:cNvSpPr txBox="1"/>
          <p:nvPr/>
        </p:nvSpPr>
        <p:spPr>
          <a:xfrm>
            <a:off x="10468966" y="51389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Violet-white: edge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F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Human First → AI in the Middle → Human Last</a:t>
            </a:r>
            <a:endParaRPr lang="en-US" sz="3200" dirty="0"/>
          </a:p>
        </p:txBody>
      </p:sp>
      <p:sp>
        <p:nvSpPr>
          <p:cNvPr id="3" name="stage card 1"/>
          <p:cNvSpPr/>
          <p:nvPr/>
        </p:nvSpPr>
        <p:spPr>
          <a:xfrm>
            <a:off x="548640" y="1325880"/>
            <a:ext cx="3429000" cy="484632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stage 1 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a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stage head 1"/>
          <p:cNvSpPr txBox="1"/>
          <p:nvPr/>
        </p:nvSpPr>
        <p:spPr>
          <a:xfrm>
            <a:off x="822960" y="2423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1  ·  HUMAN FIRST</a:t>
            </a:r>
            <a:endParaRPr lang="en-US" sz="13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 set the vision and the rules</a:t>
            </a:r>
            <a:endParaRPr lang="en-US" sz="1300" dirty="0"/>
          </a:p>
        </p:txBody>
      </p:sp>
      <p:sp>
        <p:nvSpPr>
          <p:cNvPr id="7" name="stage bullets 1"/>
          <p:cNvSpPr txBox="1"/>
          <p:nvPr/>
        </p:nvSpPr>
        <p:spPr>
          <a:xfrm>
            <a:off x="822960" y="3429000"/>
            <a:ext cx="2926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The brief, the pillars and the palette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written prompt for every build night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Taste in my own words: "too basic ... more powerful", "jump height needs to be lower"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Hard rules: movement stays exact; nothing the player had is lost</a:t>
            </a:r>
            <a:endParaRPr lang="en-US" sz="1400" dirty="0"/>
          </a:p>
        </p:txBody>
      </p:sp>
      <p:pic>
        <p:nvPicPr>
          <p:cNvPr id="8" name="stage 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611880"/>
            <a:ext cx="219456" cy="219456"/>
          </a:xfrm>
          <a:prstGeom prst="rect">
            <a:avLst/>
          </a:prstGeom>
        </p:spPr>
      </p:pic>
      <p:sp>
        <p:nvSpPr>
          <p:cNvPr id="9" name="stage card 2"/>
          <p:cNvSpPr/>
          <p:nvPr/>
        </p:nvSpPr>
        <p:spPr>
          <a:xfrm>
            <a:off x="4370832" y="1325880"/>
            <a:ext cx="3429000" cy="484632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0" name="stage 2 circle"/>
          <p:cNvSpPr/>
          <p:nvPr/>
        </p:nvSpPr>
        <p:spPr>
          <a:xfrm>
            <a:off x="4645152" y="16002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stag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764792"/>
            <a:ext cx="356616" cy="356616"/>
          </a:xfrm>
          <a:prstGeom prst="rect">
            <a:avLst/>
          </a:prstGeom>
        </p:spPr>
      </p:pic>
      <p:sp>
        <p:nvSpPr>
          <p:cNvPr id="12" name="stage head 2"/>
          <p:cNvSpPr txBox="1"/>
          <p:nvPr/>
        </p:nvSpPr>
        <p:spPr>
          <a:xfrm>
            <a:off x="4645152" y="2423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2"/>
                </a:solidFill>
              </a:rPr>
              <a:t>2  ·  AI IN THE MIDDLE</a:t>
            </a:r>
            <a:endParaRPr lang="en-US" sz="13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AI builds and checks it</a:t>
            </a:r>
            <a:endParaRPr lang="en-US" sz="1300" dirty="0"/>
          </a:p>
        </p:txBody>
      </p:sp>
      <p:sp>
        <p:nvSpPr>
          <p:cNvPr id="13" name="stage bullets 2"/>
          <p:cNvSpPr txBox="1"/>
          <p:nvPr/>
        </p:nvSpPr>
        <p:spPr>
          <a:xfrm>
            <a:off x="4645152" y="3429000"/>
            <a:ext cx="2926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Claude Code ported the web game to Unity and built it night by night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Every change checked by tests, play bots and blind A/B frame pairs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ElevenLabs: sound effects and breakcore music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ChatGPT reference images → Tripo 3D models</a:t>
            </a:r>
            <a:endParaRPr lang="en-US" sz="1400" dirty="0"/>
          </a:p>
        </p:txBody>
      </p:sp>
      <p:pic>
        <p:nvPicPr>
          <p:cNvPr id="14" name="stage 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3611880"/>
            <a:ext cx="219456" cy="219456"/>
          </a:xfrm>
          <a:prstGeom prst="rect">
            <a:avLst/>
          </a:prstGeom>
        </p:spPr>
      </p:pic>
      <p:sp>
        <p:nvSpPr>
          <p:cNvPr id="15" name="stage card 3"/>
          <p:cNvSpPr/>
          <p:nvPr/>
        </p:nvSpPr>
        <p:spPr>
          <a:xfrm>
            <a:off x="8193024" y="1325880"/>
            <a:ext cx="3429000" cy="484632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stage 3 circle"/>
          <p:cNvSpPr/>
          <p:nvPr/>
        </p:nvSpPr>
        <p:spPr>
          <a:xfrm>
            <a:off x="8467344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tage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1764792"/>
            <a:ext cx="356616" cy="356616"/>
          </a:xfrm>
          <a:prstGeom prst="rect">
            <a:avLst/>
          </a:prstGeom>
        </p:spPr>
      </p:pic>
      <p:sp>
        <p:nvSpPr>
          <p:cNvPr id="18" name="stage head 3"/>
          <p:cNvSpPr txBox="1"/>
          <p:nvPr/>
        </p:nvSpPr>
        <p:spPr>
          <a:xfrm>
            <a:off x="8467344" y="2423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3  ·  HUMAN LAST</a:t>
            </a:r>
            <a:endParaRPr lang="en-US" sz="13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 play it and decide</a:t>
            </a:r>
            <a:endParaRPr lang="en-US" sz="1300" dirty="0"/>
          </a:p>
        </p:txBody>
      </p:sp>
      <p:sp>
        <p:nvSpPr>
          <p:cNvPr id="19" name="stage bullets 3"/>
          <p:cNvSpPr txBox="1"/>
          <p:nvPr/>
        </p:nvSpPr>
        <p:spPr>
          <a:xfrm>
            <a:off x="8467344" y="3429000"/>
            <a:ext cx="2926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play card for each build: keep or drop every change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 judge the feel; numbers never replace playing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 approve every push, release and public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And I present it, today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F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tools, and why I chose them</a:t>
            </a:r>
            <a:endParaRPr lang="en-US" sz="3200" dirty="0"/>
          </a:p>
        </p:txBody>
      </p:sp>
      <p:sp>
        <p:nvSpPr>
          <p:cNvPr id="3" name="tool card Claude Code"/>
          <p:cNvSpPr/>
          <p:nvPr/>
        </p:nvSpPr>
        <p:spPr>
          <a:xfrm>
            <a:off x="548640" y="13258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Claude Code 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laude Cod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ool text Claude Code"/>
          <p:cNvSpPr txBox="1"/>
          <p:nvPr/>
        </p:nvSpPr>
        <p:spPr>
          <a:xfrm>
            <a:off x="1783080" y="155448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Claude Code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AI engineer. It works across the whole project from the terminal, runs builds and tests itself, and follows my written rules (CLAUDE.md) through long build nights.</a:t>
            </a:r>
            <a:endParaRPr lang="en-US" sz="2200" dirty="0"/>
          </a:p>
        </p:txBody>
      </p:sp>
      <p:sp>
        <p:nvSpPr>
          <p:cNvPr id="7" name="tool card Unity 6 + Unity CLI"/>
          <p:cNvSpPr/>
          <p:nvPr/>
        </p:nvSpPr>
        <p:spPr>
          <a:xfrm>
            <a:off x="6172200" y="13258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Unity 6 + Unity CLI circle"/>
          <p:cNvSpPr/>
          <p:nvPr/>
        </p:nvSpPr>
        <p:spPr>
          <a:xfrm>
            <a:off x="644652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Unity 6 + Unity CLI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85" y="1775765"/>
            <a:ext cx="380390" cy="380390"/>
          </a:xfrm>
          <a:prstGeom prst="rect">
            <a:avLst/>
          </a:prstGeom>
        </p:spPr>
      </p:pic>
      <p:sp>
        <p:nvSpPr>
          <p:cNvPr id="10" name="tool text Unity 6 + Unity CLI"/>
          <p:cNvSpPr txBox="1"/>
          <p:nvPr/>
        </p:nvSpPr>
        <p:spPr>
          <a:xfrm>
            <a:off x="7406640" y="155448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Unity 6 + Unity CLI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Unity for a Steam / Switch game. The Unity CLI lets Claude drive my open Editor: compile, run tests, build players, run checks, with no clicking from me.</a:t>
            </a:r>
            <a:endParaRPr lang="en-US" sz="2200" dirty="0"/>
          </a:p>
        </p:txBody>
      </p:sp>
      <p:sp>
        <p:nvSpPr>
          <p:cNvPr id="11" name="tool card ElevenLabs"/>
          <p:cNvSpPr/>
          <p:nvPr/>
        </p:nvSpPr>
        <p:spPr>
          <a:xfrm>
            <a:off x="548640" y="379476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tool icon ElevenLab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23360"/>
            <a:ext cx="411480" cy="411480"/>
          </a:xfrm>
          <a:prstGeom prst="rect">
            <a:avLst/>
          </a:prstGeom>
        </p:spPr>
      </p:pic>
      <p:sp>
        <p:nvSpPr>
          <p:cNvPr id="13" name="tool text ElevenLabs"/>
          <p:cNvSpPr txBox="1"/>
          <p:nvPr/>
        </p:nvSpPr>
        <p:spPr>
          <a:xfrm>
            <a:off x="777240" y="4572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ElevenLabs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Sound effects and breakcore music from text, fast and in one style</a:t>
            </a:r>
            <a:endParaRPr lang="en-US" sz="1700" dirty="0"/>
          </a:p>
        </p:txBody>
      </p:sp>
      <p:sp>
        <p:nvSpPr>
          <p:cNvPr id="14" name="tool card ChatGPT images"/>
          <p:cNvSpPr/>
          <p:nvPr/>
        </p:nvSpPr>
        <p:spPr>
          <a:xfrm>
            <a:off x="3360420" y="379476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tool icon ChatGPT image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4023360"/>
            <a:ext cx="411480" cy="411480"/>
          </a:xfrm>
          <a:prstGeom prst="rect">
            <a:avLst/>
          </a:prstGeom>
        </p:spPr>
      </p:pic>
      <p:sp>
        <p:nvSpPr>
          <p:cNvPr id="16" name="tool text ChatGPT images"/>
          <p:cNvSpPr txBox="1"/>
          <p:nvPr/>
        </p:nvSpPr>
        <p:spPr>
          <a:xfrm>
            <a:off x="3589020" y="4572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ChatGPT images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Reference art, so I set the look before anything is 3D</a:t>
            </a:r>
            <a:endParaRPr lang="en-US" sz="1700" dirty="0"/>
          </a:p>
        </p:txBody>
      </p:sp>
      <p:sp>
        <p:nvSpPr>
          <p:cNvPr id="17" name="tool card Tripo"/>
          <p:cNvSpPr/>
          <p:nvPr/>
        </p:nvSpPr>
        <p:spPr>
          <a:xfrm>
            <a:off x="6172200" y="379476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tool icon Trip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023360"/>
            <a:ext cx="411480" cy="411480"/>
          </a:xfrm>
          <a:prstGeom prst="rect">
            <a:avLst/>
          </a:prstGeom>
        </p:spPr>
      </p:pic>
      <p:sp>
        <p:nvSpPr>
          <p:cNvPr id="19" name="tool text Tripo"/>
          <p:cNvSpPr txBox="1"/>
          <p:nvPr/>
        </p:nvSpPr>
        <p:spPr>
          <a:xfrm>
            <a:off x="6400800" y="4572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Tripo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Image or text to a textured 3D model, exported straight to Unity</a:t>
            </a:r>
            <a:endParaRPr lang="en-US" sz="1700" dirty="0"/>
          </a:p>
        </p:txBody>
      </p:sp>
      <p:sp>
        <p:nvSpPr>
          <p:cNvPr id="20" name="tool card GitHub · itch.io"/>
          <p:cNvSpPr/>
          <p:nvPr/>
        </p:nvSpPr>
        <p:spPr>
          <a:xfrm>
            <a:off x="8983980" y="379476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tool icon GitHub · itch.i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0" y="4023360"/>
            <a:ext cx="411480" cy="411480"/>
          </a:xfrm>
          <a:prstGeom prst="rect">
            <a:avLst/>
          </a:prstGeom>
        </p:spPr>
      </p:pic>
      <p:sp>
        <p:nvSpPr>
          <p:cNvPr id="22" name="tool text GitHub · itch.io"/>
          <p:cNvSpPr txBox="1"/>
          <p:nvPr/>
        </p:nvSpPr>
        <p:spPr>
          <a:xfrm>
            <a:off x="9212580" y="4572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GitHub · itch.io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Public code and builds; Claude in Chrome and butler did the uploads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F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weeks, by the numbers</a:t>
            </a:r>
            <a:endParaRPr lang="en-US" sz="3200" dirty="0"/>
          </a:p>
        </p:txBody>
      </p:sp>
      <p:sp>
        <p:nvSpPr>
          <p:cNvPr id="3" name="stat card 0"/>
          <p:cNvSpPr/>
          <p:nvPr/>
        </p:nvSpPr>
        <p:spPr>
          <a:xfrm>
            <a:off x="548640" y="132588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stat 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600200"/>
            <a:ext cx="384048" cy="384048"/>
          </a:xfrm>
          <a:prstGeom prst="rect">
            <a:avLst/>
          </a:prstGeom>
        </p:spPr>
      </p:pic>
      <p:sp>
        <p:nvSpPr>
          <p:cNvPr id="5" name="stat number 0"/>
          <p:cNvSpPr txBox="1"/>
          <p:nvPr/>
        </p:nvSpPr>
        <p:spPr>
          <a:xfrm>
            <a:off x="822960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4,298</a:t>
            </a:r>
            <a:endParaRPr lang="en-US" sz="5600" dirty="0"/>
          </a:p>
        </p:txBody>
      </p:sp>
      <p:sp>
        <p:nvSpPr>
          <p:cNvPr id="6" name="stat label 0"/>
          <p:cNvSpPr txBox="1"/>
          <p:nvPr/>
        </p:nvSpPr>
        <p:spPr>
          <a:xfrm>
            <a:off x="82296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commits since 30 September</a:t>
            </a:r>
            <a:endParaRPr lang="en-US" sz="1600" dirty="0"/>
          </a:p>
        </p:txBody>
      </p:sp>
      <p:sp>
        <p:nvSpPr>
          <p:cNvPr id="7" name="stat card 1"/>
          <p:cNvSpPr/>
          <p:nvPr/>
        </p:nvSpPr>
        <p:spPr>
          <a:xfrm>
            <a:off x="4370832" y="132588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stat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1600200"/>
            <a:ext cx="384048" cy="384048"/>
          </a:xfrm>
          <a:prstGeom prst="rect">
            <a:avLst/>
          </a:prstGeom>
        </p:spPr>
      </p:pic>
      <p:sp>
        <p:nvSpPr>
          <p:cNvPr id="9" name="stat number 1"/>
          <p:cNvSpPr txBox="1"/>
          <p:nvPr/>
        </p:nvSpPr>
        <p:spPr>
          <a:xfrm>
            <a:off x="4645152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2,551</a:t>
            </a:r>
            <a:endParaRPr lang="en-US" sz="5600" dirty="0"/>
          </a:p>
        </p:txBody>
      </p:sp>
      <p:sp>
        <p:nvSpPr>
          <p:cNvPr id="10" name="stat label 1"/>
          <p:cNvSpPr txBox="1"/>
          <p:nvPr/>
        </p:nvSpPr>
        <p:spPr>
          <a:xfrm>
            <a:off x="4645152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automated tests</a:t>
            </a:r>
            <a:endParaRPr lang="en-US" sz="1600" dirty="0"/>
          </a:p>
        </p:txBody>
      </p:sp>
      <p:sp>
        <p:nvSpPr>
          <p:cNvPr id="11" name="stat card 2"/>
          <p:cNvSpPr/>
          <p:nvPr/>
        </p:nvSpPr>
        <p:spPr>
          <a:xfrm>
            <a:off x="8193024" y="132588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stat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944" y="1600200"/>
            <a:ext cx="384048" cy="384048"/>
          </a:xfrm>
          <a:prstGeom prst="rect">
            <a:avLst/>
          </a:prstGeom>
        </p:spPr>
      </p:pic>
      <p:sp>
        <p:nvSpPr>
          <p:cNvPr id="13" name="stat number 2"/>
          <p:cNvSpPr txBox="1"/>
          <p:nvPr/>
        </p:nvSpPr>
        <p:spPr>
          <a:xfrm>
            <a:off x="8467344" y="1600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317k</a:t>
            </a:r>
            <a:endParaRPr lang="en-US" sz="5600" dirty="0"/>
          </a:p>
        </p:txBody>
      </p:sp>
      <p:sp>
        <p:nvSpPr>
          <p:cNvPr id="14" name="stat label 2"/>
          <p:cNvSpPr txBox="1"/>
          <p:nvPr/>
        </p:nvSpPr>
        <p:spPr>
          <a:xfrm>
            <a:off x="8467344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lines of C#</a:t>
            </a:r>
            <a:endParaRPr lang="en-US" sz="1600" dirty="0"/>
          </a:p>
        </p:txBody>
      </p:sp>
      <p:sp>
        <p:nvSpPr>
          <p:cNvPr id="15" name="stat card 3"/>
          <p:cNvSpPr/>
          <p:nvPr/>
        </p:nvSpPr>
        <p:spPr>
          <a:xfrm>
            <a:off x="548640" y="370332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stat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977640"/>
            <a:ext cx="384048" cy="384048"/>
          </a:xfrm>
          <a:prstGeom prst="rect">
            <a:avLst/>
          </a:prstGeom>
        </p:spPr>
      </p:pic>
      <p:sp>
        <p:nvSpPr>
          <p:cNvPr id="17" name="stat number 3"/>
          <p:cNvSpPr txBox="1"/>
          <p:nvPr/>
        </p:nvSpPr>
        <p:spPr>
          <a:xfrm>
            <a:off x="822960" y="3977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2"/>
                </a:solidFill>
              </a:rPr>
              <a:t>138</a:t>
            </a:r>
            <a:endParaRPr lang="en-US" sz="5600" dirty="0"/>
          </a:p>
        </p:txBody>
      </p:sp>
      <p:sp>
        <p:nvSpPr>
          <p:cNvPr id="18" name="stat label 3"/>
          <p:cNvSpPr txBox="1"/>
          <p:nvPr/>
        </p:nvSpPr>
        <p:spPr>
          <a:xfrm>
            <a:off x="822960" y="5074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ElevenLabs sound effects</a:t>
            </a:r>
            <a:endParaRPr lang="en-US" sz="1600" dirty="0"/>
          </a:p>
        </p:txBody>
      </p:sp>
      <p:sp>
        <p:nvSpPr>
          <p:cNvPr id="19" name="stat card 4"/>
          <p:cNvSpPr/>
          <p:nvPr/>
        </p:nvSpPr>
        <p:spPr>
          <a:xfrm>
            <a:off x="4370832" y="370332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stat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3977640"/>
            <a:ext cx="384048" cy="384048"/>
          </a:xfrm>
          <a:prstGeom prst="rect">
            <a:avLst/>
          </a:prstGeom>
        </p:spPr>
      </p:pic>
      <p:sp>
        <p:nvSpPr>
          <p:cNvPr id="21" name="stat number 4"/>
          <p:cNvSpPr txBox="1"/>
          <p:nvPr/>
        </p:nvSpPr>
        <p:spPr>
          <a:xfrm>
            <a:off x="4645152" y="3977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2"/>
                </a:solidFill>
              </a:rPr>
              <a:t>41</a:t>
            </a:r>
            <a:endParaRPr lang="en-US" sz="5600" dirty="0"/>
          </a:p>
        </p:txBody>
      </p:sp>
      <p:sp>
        <p:nvSpPr>
          <p:cNvPr id="22" name="stat label 4"/>
          <p:cNvSpPr txBox="1"/>
          <p:nvPr/>
        </p:nvSpPr>
        <p:spPr>
          <a:xfrm>
            <a:off x="4645152" y="5074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ElevenLabs breakcore tracks</a:t>
            </a:r>
            <a:endParaRPr lang="en-US" sz="1600" dirty="0"/>
          </a:p>
        </p:txBody>
      </p:sp>
      <p:sp>
        <p:nvSpPr>
          <p:cNvPr id="23" name="stat card 5"/>
          <p:cNvSpPr/>
          <p:nvPr/>
        </p:nvSpPr>
        <p:spPr>
          <a:xfrm>
            <a:off x="8193024" y="370332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stat icon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944" y="3977640"/>
            <a:ext cx="384048" cy="384048"/>
          </a:xfrm>
          <a:prstGeom prst="rect">
            <a:avLst/>
          </a:prstGeom>
        </p:spPr>
      </p:pic>
      <p:sp>
        <p:nvSpPr>
          <p:cNvPr id="25" name="stat number 5"/>
          <p:cNvSpPr txBox="1"/>
          <p:nvPr/>
        </p:nvSpPr>
        <p:spPr>
          <a:xfrm>
            <a:off x="8467344" y="3977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2"/>
                </a:solidFill>
              </a:rPr>
              <a:t>19</a:t>
            </a:r>
            <a:endParaRPr lang="en-US" sz="5600" dirty="0"/>
          </a:p>
        </p:txBody>
      </p:sp>
      <p:sp>
        <p:nvSpPr>
          <p:cNvPr id="26" name="stat label 5"/>
          <p:cNvSpPr txBox="1"/>
          <p:nvPr/>
        </p:nvSpPr>
        <p:spPr>
          <a:xfrm>
            <a:off x="8467344" y="5074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Tripo 3D models</a:t>
            </a:r>
            <a:endParaRPr lang="en-US" sz="1600" dirty="0"/>
          </a:p>
        </p:txBody>
      </p:sp>
      <p:sp>
        <p:nvSpPr>
          <p:cNvPr id="27" name="stats caption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Cyan: engineering by Claude Code. Orange: generated assets. Counted from the repository on 28 October 2026.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F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in the middle, one asset at a time</a:t>
            </a:r>
            <a:endParaRPr lang="en-US" sz="3200" dirty="0"/>
          </a:p>
        </p:txBody>
      </p:sp>
      <p:sp>
        <p:nvSpPr>
          <p:cNvPr id="3" name="asset frame 0"/>
          <p:cNvSpPr/>
          <p:nvPr/>
        </p:nvSpPr>
        <p:spPr>
          <a:xfrm>
            <a:off x="548640" y="132588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D8D6E0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asset image 0" descr="C:\Users\gaige\dev\SKYGRIND-unity\docs\pg3\deck\img\ref-hu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353312"/>
            <a:ext cx="2743200" cy="2743200"/>
          </a:xfrm>
          <a:prstGeom prst="rect">
            <a:avLst/>
          </a:prstGeom>
        </p:spPr>
      </p:pic>
      <p:sp>
        <p:nvSpPr>
          <p:cNvPr id="5" name="asset caption 0"/>
          <p:cNvSpPr txBox="1"/>
          <p:nvPr/>
        </p:nvSpPr>
        <p:spPr>
          <a:xfrm>
            <a:off x="548640" y="4434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ChatGPT reference image</a:t>
            </a:r>
            <a:endParaRPr lang="en-US" sz="1600" dirty="0"/>
          </a:p>
        </p:txBody>
      </p:sp>
      <p:pic>
        <p:nvPicPr>
          <p:cNvPr id="6" name="asset arrow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724912"/>
            <a:ext cx="219456" cy="219456"/>
          </a:xfrm>
          <a:prstGeom prst="rect">
            <a:avLst/>
          </a:prstGeom>
        </p:spPr>
      </p:pic>
      <p:sp>
        <p:nvSpPr>
          <p:cNvPr id="7" name="asset frame 1"/>
          <p:cNvSpPr/>
          <p:nvPr/>
        </p:nvSpPr>
        <p:spPr>
          <a:xfrm>
            <a:off x="4370832" y="1325880"/>
            <a:ext cx="34290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asset image 1" descr="C:\Users\gaige\dev\SKYGRIND-unity\docs\pg3\deck\img\tripo-hu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353312"/>
            <a:ext cx="2743200" cy="2743200"/>
          </a:xfrm>
          <a:prstGeom prst="rect">
            <a:avLst/>
          </a:prstGeom>
        </p:spPr>
      </p:pic>
      <p:sp>
        <p:nvSpPr>
          <p:cNvPr id="9" name="asset caption 1"/>
          <p:cNvSpPr txBox="1"/>
          <p:nvPr/>
        </p:nvSpPr>
        <p:spPr>
          <a:xfrm>
            <a:off x="4370832" y="4434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Tripo 3D model</a:t>
            </a:r>
            <a:endParaRPr lang="en-US" sz="1600" dirty="0"/>
          </a:p>
        </p:txBody>
      </p:sp>
      <p:pic>
        <p:nvPicPr>
          <p:cNvPr id="10" name="asset arrow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2724912"/>
            <a:ext cx="219456" cy="219456"/>
          </a:xfrm>
          <a:prstGeom prst="rect">
            <a:avLst/>
          </a:prstGeom>
        </p:spPr>
      </p:pic>
      <p:sp>
        <p:nvSpPr>
          <p:cNvPr id="11" name="asset frame 2"/>
          <p:cNvSpPr/>
          <p:nvPr/>
        </p:nvSpPr>
        <p:spPr>
          <a:xfrm>
            <a:off x="8193024" y="1325880"/>
            <a:ext cx="34290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asset image 2" descr="C:\Users\gaige\dev\SKYGRIND-unity\docs\pg3\deck\img\game-husk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1353312"/>
            <a:ext cx="2743200" cy="2743200"/>
          </a:xfrm>
          <a:prstGeom prst="rect">
            <a:avLst/>
          </a:prstGeom>
        </p:spPr>
      </p:pic>
      <p:sp>
        <p:nvSpPr>
          <p:cNvPr id="13" name="asset caption 2"/>
          <p:cNvSpPr txBox="1"/>
          <p:nvPr/>
        </p:nvSpPr>
        <p:spPr>
          <a:xfrm>
            <a:off x="8193024" y="4434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3. In the game, cut into limbs that walk</a:t>
            </a:r>
            <a:endParaRPr lang="en-US" sz="1600" dirty="0"/>
          </a:p>
        </p:txBody>
      </p:sp>
      <p:sp>
        <p:nvSpPr>
          <p:cNvPr id="14" name="role card Human"/>
          <p:cNvSpPr/>
          <p:nvPr/>
        </p:nvSpPr>
        <p:spPr>
          <a:xfrm>
            <a:off x="548640" y="4983480"/>
            <a:ext cx="5349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role text Human"/>
          <p:cNvSpPr txBox="1"/>
          <p:nvPr/>
        </p:nvSpPr>
        <p:spPr>
          <a:xfrm>
            <a:off x="777240" y="50749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wrote the prompt, chose the image, and judged the model in the game. When a gun came in backwards or grey, I called it and it was fixed.</a:t>
            </a:r>
            <a:endParaRPr lang="en-US" sz="1600" dirty="0"/>
          </a:p>
        </p:txBody>
      </p:sp>
      <p:sp>
        <p:nvSpPr>
          <p:cNvPr id="16" name="role card AI"/>
          <p:cNvSpPr/>
          <p:nvPr/>
        </p:nvSpPr>
        <p:spPr>
          <a:xfrm>
            <a:off x="6263640" y="4983480"/>
            <a:ext cx="5349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7" name="role text AI"/>
          <p:cNvSpPr txBox="1"/>
          <p:nvPr/>
        </p:nvSpPr>
        <p:spPr>
          <a:xfrm>
            <a:off x="6492240" y="50749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Generated the image, the mesh and the textures, then cut the model into legs and arms and wrote the walk, wind-up and strike motion.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F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game today</a:t>
            </a:r>
            <a:endParaRPr lang="en-US" sz="3200" dirty="0"/>
          </a:p>
        </p:txBody>
      </p:sp>
      <p:pic>
        <p:nvPicPr>
          <p:cNvPr id="3" name="shot icebreaker.jpg" descr="C:\Users\gaige\dev\SKYGRIND-unity\docs\pg3\deck\img\icebreak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429000" cy="1929384"/>
          </a:xfrm>
          <a:prstGeom prst="rect">
            <a:avLst/>
          </a:prstGeom>
        </p:spPr>
      </p:pic>
      <p:sp>
        <p:nvSpPr>
          <p:cNvPr id="4" name="shot caption 0"/>
          <p:cNvSpPr txBox="1"/>
          <p:nvPr/>
        </p:nvSpPr>
        <p:spPr>
          <a:xfrm>
            <a:off x="548640" y="32552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ICEBREAKER: its model rides its own punch moves</a:t>
            </a:r>
            <a:endParaRPr lang="en-US" sz="1200" dirty="0"/>
          </a:p>
        </p:txBody>
      </p:sp>
      <p:pic>
        <p:nvPicPr>
          <p:cNvPr id="5" name="shot crown.jpg" descr="C:\Users\gaige\dev\SKYGRIND-unity\docs\pg3\deck\img\crow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280160"/>
            <a:ext cx="3429000" cy="1929384"/>
          </a:xfrm>
          <a:prstGeom prst="rect">
            <a:avLst/>
          </a:prstGeom>
        </p:spPr>
      </p:pic>
      <p:sp>
        <p:nvSpPr>
          <p:cNvPr id="6" name="shot caption 1"/>
          <p:cNvSpPr txBox="1"/>
          <p:nvPr/>
        </p:nvSpPr>
        <p:spPr>
          <a:xfrm>
            <a:off x="4370832" y="32552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CROWN spins above its weak-point gems</a:t>
            </a:r>
            <a:endParaRPr lang="en-US" sz="1200" dirty="0"/>
          </a:p>
        </p:txBody>
      </p:sp>
      <p:pic>
        <p:nvPicPr>
          <p:cNvPr id="7" name="shot charge.jpg" descr="C:\Users\gaige\dev\SKYGRIND-unity\docs\pg3\deck\img\char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280160"/>
            <a:ext cx="3429000" cy="1929384"/>
          </a:xfrm>
          <a:prstGeom prst="rect">
            <a:avLst/>
          </a:prstGeom>
        </p:spPr>
      </p:pic>
      <p:sp>
        <p:nvSpPr>
          <p:cNvPr id="8" name="shot caption 2"/>
          <p:cNvSpPr txBox="1"/>
          <p:nvPr/>
        </p:nvSpPr>
        <p:spPr>
          <a:xfrm>
            <a:off x="8193024" y="32552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KESTREL charge fills the gun's own cyan glow</a:t>
            </a:r>
            <a:endParaRPr lang="en-US" sz="1200" dirty="0"/>
          </a:p>
        </p:txBody>
      </p:sp>
      <p:pic>
        <p:nvPicPr>
          <p:cNvPr id="9" name="shot longwave.jpg" descr="C:\Users\gaige\dev\SKYGRIND-unity\docs\pg3\deck\img\longwav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22192"/>
            <a:ext cx="3429000" cy="1929384"/>
          </a:xfrm>
          <a:prstGeom prst="rect">
            <a:avLst/>
          </a:prstGeom>
        </p:spPr>
      </p:pic>
      <p:sp>
        <p:nvSpPr>
          <p:cNvPr id="10" name="shot caption 3"/>
          <p:cNvSpPr txBox="1"/>
          <p:nvPr/>
        </p:nvSpPr>
        <p:spPr>
          <a:xfrm>
            <a:off x="548640" y="579729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LONGWAVE rail rifle, from a text prompt</a:t>
            </a:r>
            <a:endParaRPr lang="en-US" sz="1200" dirty="0"/>
          </a:p>
        </p:txBody>
      </p:sp>
      <p:pic>
        <p:nvPicPr>
          <p:cNvPr id="11" name="shot punch.jpg" descr="C:\Users\gaige\dev\SKYGRIND-unity\docs\pg3\deck\img\punch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3822192"/>
            <a:ext cx="3429000" cy="1929384"/>
          </a:xfrm>
          <a:prstGeom prst="rect">
            <a:avLst/>
          </a:prstGeom>
        </p:spPr>
      </p:pic>
      <p:sp>
        <p:nvSpPr>
          <p:cNvPr id="12" name="shot caption 4"/>
          <p:cNvSpPr txBox="1"/>
          <p:nvPr/>
        </p:nvSpPr>
        <p:spPr>
          <a:xfrm>
            <a:off x="4370832" y="579729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gauntlet punch against a husk</a:t>
            </a:r>
            <a:endParaRPr lang="en-US" sz="1200" dirty="0"/>
          </a:p>
        </p:txBody>
      </p:sp>
      <p:pic>
        <p:nvPicPr>
          <p:cNvPr id="13" name="shot thunderclap.jpg" descr="C:\Users\gaige\dev\SKYGRIND-unity\docs\pg3\deck\img\thunderclap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3822192"/>
            <a:ext cx="3429000" cy="1929384"/>
          </a:xfrm>
          <a:prstGeom prst="rect">
            <a:avLst/>
          </a:prstGeom>
        </p:spPr>
      </p:pic>
      <p:sp>
        <p:nvSpPr>
          <p:cNvPr id="14" name="shot caption 5"/>
          <p:cNvSpPr txBox="1"/>
          <p:nvPr/>
        </p:nvSpPr>
        <p:spPr>
          <a:xfrm>
            <a:off x="8193024" y="579729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THUNDERCLAP against the KILN WYRM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F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Just showing up: build, play, present</a:t>
            </a:r>
            <a:endParaRPr lang="en-US" sz="3200" dirty="0"/>
          </a:p>
        </p:txBody>
      </p:sp>
      <p:sp>
        <p:nvSpPr>
          <p:cNvPr id="3" name="Every day circle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Every d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547165"/>
            <a:ext cx="380390" cy="380390"/>
          </a:xfrm>
          <a:prstGeom prst="rect">
            <a:avLst/>
          </a:prstGeom>
        </p:spPr>
      </p:pic>
      <p:sp>
        <p:nvSpPr>
          <p:cNvPr id="5" name="Every day row"/>
          <p:cNvSpPr txBox="1"/>
          <p:nvPr/>
        </p:nvSpPr>
        <p:spPr>
          <a:xfrm>
            <a:off x="1508760" y="13258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Every day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Show up, write the prompt, play the build, say what is wrong. The 67 logged build nights came out of that loop.</a:t>
            </a:r>
            <a:endParaRPr lang="en-US" sz="2000" dirty="0"/>
          </a:p>
        </p:txBody>
      </p:sp>
      <p:sp>
        <p:nvSpPr>
          <p:cNvPr id="6" name="This deck circle"/>
          <p:cNvSpPr/>
          <p:nvPr/>
        </p:nvSpPr>
        <p:spPr>
          <a:xfrm>
            <a:off x="548640" y="28346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This de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3010205"/>
            <a:ext cx="380390" cy="380390"/>
          </a:xfrm>
          <a:prstGeom prst="rect">
            <a:avLst/>
          </a:prstGeom>
        </p:spPr>
      </p:pic>
      <p:sp>
        <p:nvSpPr>
          <p:cNvPr id="8" name="This deck row"/>
          <p:cNvSpPr txBox="1"/>
          <p:nvPr/>
        </p:nvSpPr>
        <p:spPr>
          <a:xfrm>
            <a:off x="1508760" y="278892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This deck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Made with AI too: I asked for the story; Claude pulled the real numbers and screenshots from the project and built this PowerPoint; I check it and present it.</a:t>
            </a:r>
            <a:endParaRPr lang="en-US" sz="2000" dirty="0"/>
          </a:p>
        </p:txBody>
      </p:sp>
      <p:sp>
        <p:nvSpPr>
          <p:cNvPr id="9" name="Play it circle"/>
          <p:cNvSpPr/>
          <p:nvPr/>
        </p:nvSpPr>
        <p:spPr>
          <a:xfrm>
            <a:off x="548640" y="4297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Play i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4473245"/>
            <a:ext cx="380390" cy="380390"/>
          </a:xfrm>
          <a:prstGeom prst="rect">
            <a:avLst/>
          </a:prstGeom>
        </p:spPr>
      </p:pic>
      <p:sp>
        <p:nvSpPr>
          <p:cNvPr id="11" name="Play it row"/>
          <p:cNvSpPr txBox="1"/>
          <p:nvPr/>
        </p:nvSpPr>
        <p:spPr>
          <a:xfrm>
            <a:off x="1508760" y="425196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Play it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itch.io: gaiger101.itch.io/skygrind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GitHub: github.com/gaigerg101-svg/skygrind-unity</a:t>
            </a:r>
            <a:endParaRPr lang="en-US" sz="2000" dirty="0"/>
          </a:p>
        </p:txBody>
      </p:sp>
      <p:pic>
        <p:nvPicPr>
          <p:cNvPr id="12" name="closing screenshot" descr="C:\Users\gaige\dev\SKYGRIND-unity\docs\pg3\deck\img\punch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371600"/>
            <a:ext cx="4846320" cy="2724912"/>
          </a:xfrm>
          <a:prstGeom prst="rect">
            <a:avLst/>
          </a:prstGeom>
        </p:spPr>
      </p:pic>
      <p:sp>
        <p:nvSpPr>
          <p:cNvPr id="13" name="closing chip 1"/>
          <p:cNvSpPr txBox="1"/>
          <p:nvPr/>
        </p:nvSpPr>
        <p:spPr>
          <a:xfrm>
            <a:off x="6766560" y="4434840"/>
            <a:ext cx="15087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HUMAN FIRST</a:t>
            </a:r>
            <a:endParaRPr lang="en-US" sz="1400" dirty="0"/>
          </a:p>
        </p:txBody>
      </p:sp>
      <p:sp>
        <p:nvSpPr>
          <p:cNvPr id="14" name="closing chip 2"/>
          <p:cNvSpPr txBox="1"/>
          <p:nvPr/>
        </p:nvSpPr>
        <p:spPr>
          <a:xfrm>
            <a:off x="8412480" y="4434840"/>
            <a:ext cx="18288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IN THE MIDDLE</a:t>
            </a:r>
            <a:endParaRPr lang="en-US" sz="1400" dirty="0"/>
          </a:p>
        </p:txBody>
      </p:sp>
      <p:sp>
        <p:nvSpPr>
          <p:cNvPr id="15" name="closing chip 3"/>
          <p:cNvSpPr txBox="1"/>
          <p:nvPr/>
        </p:nvSpPr>
        <p:spPr>
          <a:xfrm>
            <a:off x="10378440" y="4434840"/>
            <a:ext cx="12344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HUMAN LAST</a:t>
            </a:r>
            <a:endParaRPr lang="en-US" sz="1400" dirty="0"/>
          </a:p>
        </p:txBody>
      </p:sp>
      <p:sp>
        <p:nvSpPr>
          <p:cNvPr id="16" name="closing line"/>
          <p:cNvSpPr txBox="1"/>
          <p:nvPr/>
        </p:nvSpPr>
        <p:spPr>
          <a:xfrm>
            <a:off x="6766560" y="5120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The AI does the volume. The human decides what it is for, and whether it is good.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FD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YGRIND Dusk">
  <a:themeElements>
    <a:clrScheme name="SKYGRIND Dusk">
      <a:dk1>
        <a:srgbClr val="F3F0FF"/>
      </a:dk1>
      <a:lt1>
        <a:srgbClr val="120E22"/>
      </a:lt1>
      <a:dk2>
        <a:srgbClr val="B8AFD8"/>
      </a:dk2>
      <a:lt2>
        <a:srgbClr val="1E1834"/>
      </a:lt2>
      <a:accent1>
        <a:srgbClr val="19D3E6"/>
      </a:accent1>
      <a:accent2>
        <a:srgbClr val="FF5A2C"/>
      </a:accent2>
      <a:accent3>
        <a:srgbClr val="C9BCFF"/>
      </a:accent3>
      <a:accent4>
        <a:srgbClr val="FFB347"/>
      </a:accent4>
      <a:accent5>
        <a:srgbClr val="2C2448"/>
      </a:accent5>
      <a:accent6>
        <a:srgbClr val="FF2E88"/>
      </a:accent6>
      <a:hlink>
        <a:srgbClr val="19D3E6"/>
      </a:hlink>
      <a:folHlink>
        <a:srgbClr val="C9BCFF"/>
      </a:folHlink>
    </a:clrScheme>
    <a:fontScheme name="SKYGRIND Dus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SKYGRIND: Human First, AI in the Middle, Human Last</dc:title>
  <dc:subject>PptxGenJS Presentation</dc:subject>
  <dc:creator>Gaige Geraci</dc:creator>
  <cp:lastModifiedBy>Gaige Geraci</cp:lastModifiedBy>
  <cp:revision>1</cp:revision>
  <dcterms:created xsi:type="dcterms:W3CDTF">2026-10-29T01:15:59Z</dcterms:created>
  <dcterms:modified xsi:type="dcterms:W3CDTF">2026-10-29T01:15:59Z</dcterms:modified>
</cp:coreProperties>
</file>